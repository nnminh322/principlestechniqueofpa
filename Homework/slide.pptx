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  <p:sldMasterId id="214748370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y="6858000" cx="12192000"/>
  <p:notesSz cx="7559675" cy="10691800"/>
  <p:embeddedFontLs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7OuJcaCObka+PYNlTutZNDve6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2.xml"/><Relationship Id="rId42" Type="http://customschemas.google.com/relationships/presentationmetadata" Target="metadata"/><Relationship Id="rId41" Type="http://schemas.openxmlformats.org/officeDocument/2006/relationships/font" Target="fonts/Lato-boldItalic.fnt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Roboto-bold.fntdata"/><Relationship Id="rId12" Type="http://schemas.openxmlformats.org/officeDocument/2006/relationships/slide" Target="slides/slide4.xml"/><Relationship Id="rId34" Type="http://schemas.openxmlformats.org/officeDocument/2006/relationships/font" Target="fonts/Roboto-regular.fntdata"/><Relationship Id="rId15" Type="http://schemas.openxmlformats.org/officeDocument/2006/relationships/slide" Target="slides/slide7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6.xml"/><Relationship Id="rId36" Type="http://schemas.openxmlformats.org/officeDocument/2006/relationships/font" Target="fonts/Roboto-italic.fntdata"/><Relationship Id="rId17" Type="http://schemas.openxmlformats.org/officeDocument/2006/relationships/slide" Target="slides/slide9.xml"/><Relationship Id="rId39" Type="http://schemas.openxmlformats.org/officeDocument/2006/relationships/font" Target="fonts/Lato-bold.fntdata"/><Relationship Id="rId16" Type="http://schemas.openxmlformats.org/officeDocument/2006/relationships/slide" Target="slides/slide8.xml"/><Relationship Id="rId38" Type="http://schemas.openxmlformats.org/officeDocument/2006/relationships/font" Target="fonts/Lato-regular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aa1c70c0f_7_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aa1c70c0f_7_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a39b68121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9a39b68121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aa1c70c0f_7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aaa1c70c0f_7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aa1c70c0f_7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aaa1c70c0f_7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a39b68121_0_7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a39b68121_0_7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a39b68121_0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9a39b68121_0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a1c70c0f_7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aa1c70c0f_7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aa1c70c0f_7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aa1c70c0f_7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a39b68121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9a39b68121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a39b68121_0_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9a39b68121_0_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aa1c70c0f_7_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aaa1c70c0f_7_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a39b68121_0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9a39b68121_0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a39b68121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9a39b68121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a39b68121_0_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9a39b68121_0_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aa1c70c0f_7_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aaa1c70c0f_7_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a39b68121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9a39b68121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aa1c70c0f_7_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aa1c70c0f_7_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aa1c70c0f_7_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aaa1c70c0f_7_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aa1c70c0f_7_9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aaa1c70c0f_7_9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8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8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8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8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9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0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0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1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1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3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4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4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4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5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5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5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6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6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6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7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7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8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8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8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8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9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9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9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9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69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9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1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8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8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5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8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8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8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8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8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8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9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9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9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9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9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9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9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9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0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0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0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0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0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0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0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0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0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1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30120" y="1406880"/>
            <a:ext cx="5765400" cy="4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16"/>
          <p:cNvSpPr txBox="1"/>
          <p:nvPr>
            <p:ph idx="2" type="body"/>
          </p:nvPr>
        </p:nvSpPr>
        <p:spPr>
          <a:xfrm>
            <a:off x="6238800" y="1414440"/>
            <a:ext cx="5444700" cy="4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338760" y="112680"/>
            <a:ext cx="115143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4558320" y="1248480"/>
            <a:ext cx="7391160" cy="520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/>
        </p:nvSpPr>
        <p:spPr>
          <a:xfrm>
            <a:off x="4558320" y="1248480"/>
            <a:ext cx="7391160" cy="520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4741900" y="1028225"/>
            <a:ext cx="7391100" cy="4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Roboto"/>
                <a:ea typeface="Roboto"/>
                <a:cs typeface="Roboto"/>
                <a:sym typeface="Roboto"/>
              </a:rPr>
              <a:t>Mục lục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Phần 1: Báo cáo Homework (Static &amp; Dynamic Analysis)</a:t>
            </a:r>
            <a:endParaRPr b="1"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Lý thuyết: Abstract Interpretation.</a:t>
            </a: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Thực hành: Demo phân tích tĩnh (Dataflow, CFG, Pointer).</a:t>
            </a: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Thực hành: Demo phân tích động (Slicing, Fault Localization).</a:t>
            </a: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Phần 2: Báo cáo Tiến độ Tiểu luận (Research Paper)</a:t>
            </a:r>
            <a:endParaRPr b="1"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Roboto"/>
              <a:buChar char="○"/>
            </a:pP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Paper: "Beyond Affine Loops: A Geometric Approach..."</a:t>
            </a: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aa1c70c0f_7_51"/>
          <p:cNvSpPr txBox="1"/>
          <p:nvPr/>
        </p:nvSpPr>
        <p:spPr>
          <a:xfrm>
            <a:off x="4458595" y="839880"/>
            <a:ext cx="7391100" cy="5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aaa1c70c0f_7_51"/>
          <p:cNvSpPr txBox="1"/>
          <p:nvPr/>
        </p:nvSpPr>
        <p:spPr>
          <a:xfrm>
            <a:off x="4558320" y="404280"/>
            <a:ext cx="7391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aaa1c70c0f_7_51"/>
          <p:cNvSpPr txBox="1"/>
          <p:nvPr/>
        </p:nvSpPr>
        <p:spPr>
          <a:xfrm>
            <a:off x="4558325" y="2238050"/>
            <a:ext cx="7391100" cy="4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-US" sz="3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Báo cáo Homework (Static &amp; Dynamic Analysis)</a:t>
            </a:r>
            <a:endParaRPr sz="3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284" name="Google Shape;284;p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Khái niệm Abstract interpretation có ý nghĩa như thế nào trong quá trình phát triển Static Program Analysis </a:t>
            </a:r>
            <a:endParaRPr sz="18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Tại sao các công cụ dựa trên ý tưởng Abstract Interpretation chỉ mang tính ứng dụng lý thuyết nhiều hơn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Hãy cho biết vào thời điểm 2024 có công cụ nào dựa trên Abstract Interpretation phát triển ứng dụng được trong công nghiệp hay không</a:t>
            </a:r>
            <a:endParaRPr sz="18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Homework 1: Lý thuyết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"/>
          <p:cNvSpPr txBox="1"/>
          <p:nvPr/>
        </p:nvSpPr>
        <p:spPr>
          <a:xfrm>
            <a:off x="2736550" y="2459575"/>
            <a:ext cx="63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a39b68121_0_58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292" name="Google Shape;292;g39a39b68121_0_58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Vấn đề: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Không thể chạy thử mọi trường hợp (không gian trạng thái vô hạn).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Giải pháp AI: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Chuyển từ miền cụ thể (concrete semantics) sang miền trừu tượng (abstract domain).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Ví dụ: Thay vì giá trị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x = 1, 2, 5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dùng khoảng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x ∈ [1, 5]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Giá trị cốt lõi: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○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Soundness (Tính đúng đắn):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"Xấp xỉ có đảm bảo". Thà báo thừa (false positive) còn hơn bỏ sót lỗi.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○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Cơ chế: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Dùng Lattice/Poset và tính điểm bất động (Fixpoint) với Widening/Narrowing.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9a39b68121_0_58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Abstract Interpretation (Lý thuyết)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39a39b68121_0_58"/>
          <p:cNvSpPr txBox="1"/>
          <p:nvPr/>
        </p:nvSpPr>
        <p:spPr>
          <a:xfrm>
            <a:off x="2736550" y="2459575"/>
            <a:ext cx="63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95" name="Google Shape;295;g39a39b68121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925" y="3141750"/>
            <a:ext cx="4452850" cy="24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aa1c70c0f_7_5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01" name="Google Shape;301;g3aaa1c70c0f_7_5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Đánh đổi: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Soundness vs. Precision: Muốn chạy nhanh và bao phủ hết, từ đó phải chấp nhận báo động giả (False Positive).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Rào cản: Cần cấu hình phức tạp, chuyên gia vận hành sâu.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Chứng minh thực tế (2024):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AI là xương sống của các hệ thống an toàn cao (Safety-critical).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○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Astrée (Airbus):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Avionics software.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○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Polyspace (MathWorks):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Automotive/Medical.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○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Infer (Meta):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CI/CD pipeline cho Facebook/WhatsApp (chứng minh AI có thể scale lớn).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g3aaa1c70c0f_7_5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Tại sao AI bị xem là "Lý thuyết" &amp; Thực tế công nghiệp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aa1c70c0f_7_13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08" name="Google Shape;308;g3aaa1c70c0f_7_1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Ngôn ngữ: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C++17 (Single-file demo).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Nội dung trình bày trên slide: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Pseudo code và output. 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Tài liệu đính kèm: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Source code và hướng dẫn cài đặt chạy 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3aaa1c70c0f_7_13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Nội dung trình bày phần thực hành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a39b68121_0_73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15" name="Google Shape;315;g39a39b68121_0_7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ý tưởng phân tích chương trình sử dụng Dataflow Analysis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ý tương phân tích mã nguồn chương trình sử dụng kỹ thuật CFG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các ý thuật cấp phát bộ nhớ và giải phóng bộ nhớ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ý tưởng sử dụng và giải phóng pointer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g39a39b68121_0_73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Homework 2: </a:t>
            </a: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Thực hành demo phân tích tĩnh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a39b68121_0_92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22" name="Google Shape;322;g39a39b68121_0_92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Kiến trúc: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Đầu vào: Toy Program (Source giả lập).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Core: Biểu diễn CFG (Node/Edge).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Analysis: Reaching Definitions (Dataflow).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Memory Model: Stack &amp; Heap Simulator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g39a39b68121_0_92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tĩnh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aa1c70c0f_7_19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29" name="Google Shape;329;g3aaa1c70c0f_7_19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CFG: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Xuất ra định dạng DOT (Graphviz) để trực quan hóa luồng đi.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Thuật toán Reaching Definitions: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Tính tập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GEN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và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KILL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cho mỗi node.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Lặp tính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và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OUT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cho đến khi hội tụ (Fixpoint).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g3aaa1c70c0f_7_19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Control Flow Graph (CFG) &amp; Dataflow Analysis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1" name="Google Shape;331;g3aaa1c70c0f_7_19" title="Ảnh màn hình 2025-12-01 lúc 20.57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950" y="2338825"/>
            <a:ext cx="4977024" cy="36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aaa1c70c0f_7_19" title="Ảnh màn hình 2025-12-01 lúc 20.58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7025" y="1169950"/>
            <a:ext cx="3997825" cy="479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aa1c70c0f_7_31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38" name="Google Shape;338;g3aaa1c70c0f_7_31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Mô phỏng Heap:</a:t>
            </a:r>
            <a:endParaRPr b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○"/>
            </a:pP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Tự cài đặt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malloc_block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free_block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○"/>
            </a:pP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Kiểm soát metadata: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freed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flag.</a:t>
            </a:r>
            <a:endParaRPr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●"/>
            </a:pPr>
            <a:r>
              <a:rPr b="1"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Phát hiện Use-After-Free:</a:t>
            </a:r>
            <a:endParaRPr b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○"/>
            </a:pP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Wrapper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Pointer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chứa tham chiếu đến Heap.</a:t>
            </a:r>
            <a:endParaRPr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Roboto"/>
              <a:buChar char="○"/>
            </a:pP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Khi truy cập: Check cờ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freed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 Nếu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$\rightarrow$ Throw Exception </a:t>
            </a:r>
            <a:r>
              <a:rPr lang="en-US" sz="17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HeapError</a:t>
            </a:r>
            <a:r>
              <a:rPr lang="en-US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g3aaa1c70c0f_7_31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Quản lý Bộ nhớ &amp; Phát hiện Lỗi Pointer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a39b68121_0_3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45" name="Google Shape;345;g39a39b68121_0_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g39a39b68121_0_3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Quản lý Bộ nhớ &amp; Phát hiện Lỗi Pointer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g39a39b68121_0_3" title="Ảnh màn hình 2025-12-01 lúc 21.13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623" y="941101"/>
            <a:ext cx="5695301" cy="514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9a39b68121_0_3" title="Ảnh màn hình 2025-12-01 lúc 21.14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200" y="2906662"/>
            <a:ext cx="4790449" cy="12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a39b68121_0_86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54" name="Google Shape;354;g39a39b68121_0_86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ý tưởng phân tích chương trình sử dụng Tracing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ý tương phân tích chương trình sử dụng kỹ thuật Dynamic Slicing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các kỹ thuật liên quan đến execution indexing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Minh họa các kỹ thuật liên quan đến fault localization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g39a39b68121_0_86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Homework 3: Thực hành demo phân tích </a:t>
            </a: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động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aa1c70c0f_7_37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61" name="Google Shape;361;g3aaa1c70c0f_7_37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Cơ chế Tracing &amp; Execution Indexing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Tracer: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Ghi lại chuỗi sự kiện (Read/Write biến, Read/Write nhớ).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Execution Indexing: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Gắn context cho mỗi sự kiện (ví dụ: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LoopK#1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LoopK#2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Mục đích: Phân biệt các lần chạy khác nhau của cùng một dòng lệnh (quan trọng trong vòng lặp).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g3aaa1c70c0f_7_37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a39b68121_0_22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68" name="Google Shape;368;g39a39b68121_0_22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Cơ chế Tracing &amp; Execution Indexing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Tracer: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Ghi lại chuỗi sự kiện (Read/Write biến, Read/Write nhớ).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g39a39b68121_0_22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0" name="Google Shape;370;g39a39b68121_0_22" title="Ảnh màn hình 2025-12-01 lúc 21.54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025" y="1867450"/>
            <a:ext cx="5500251" cy="426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9a39b68121_0_22" title="Ảnh màn hình 2025-12-01 lúc 21.59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8275" y="2165049"/>
            <a:ext cx="5704774" cy="33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a39b68121_0_30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77" name="Google Shape;377;g39a39b68121_0_30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Cơ chế Tracing &amp; Execution Indexing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Execution Indexing: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Gắn context cho mỗi sự kiện (ví dụ: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LoopK#1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LoopK#2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Mục đích: Phân biệt các lần chạy khác nhau của cùng một dòng lệnh (quan trọng trong vòng lặp).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39a39b68121_0_30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9" name="Google Shape;379;g39a39b68121_0_30" title="Ảnh màn hình 2025-12-01 lúc 22.02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125" y="2345050"/>
            <a:ext cx="4555900" cy="378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9a39b68121_0_30" title="Ảnh màn hình 2025-12-01 lúc 22.05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4025" y="3475838"/>
            <a:ext cx="6291725" cy="15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a39b68121_0_39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86" name="Google Shape;386;g39a39b68121_0_39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Dynamic Slicing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Mục tiêu: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Tìm tập hợp lệnh ảnh hưởng đến giá trị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z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tại câu lệnh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print(z)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Kỹ thuật: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Thin Slicing (Dựa trên Data dependence &amp; Control dependence truy vết ngược).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Kết quả: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Từ output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z=...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, truy ngược ra các lệnh khởi tạo và tính toán liên quan, loại bỏ các lệnh thừa.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Fault Localization (Ochiai)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Bài toán: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Hàm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clamp_bug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bị lỗi khi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x &gt; hi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Phương pháp: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Spectrum-based Fault Localization (SBFL).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Chạy bộ test case (Pass/Fail).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Ghi nhận Coverage Matrix.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Công thức Ochiai: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Tính độ nghi ngờ (suspiciousness score) cho từng dòng lệnh.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Kết quả: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Code chỉ ra dòng </a:t>
            </a:r>
            <a:r>
              <a:rPr lang="en-US" sz="16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S204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(nhánh bug) có điểm cao nhất.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39a39b68121_0_39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8" name="Google Shape;388;g39a39b68121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450" y="4302823"/>
            <a:ext cx="4182250" cy="6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aa1c70c0f_7_43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394" name="Google Shape;394;g3aaa1c70c0f_7_4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Dynamic Slicing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g3aaa1c70c0f_7_43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6" name="Google Shape;396;g3aaa1c70c0f_7_43" title="Ảnh màn hình 2025-12-01 lúc 22.03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825" y="1364625"/>
            <a:ext cx="4830751" cy="478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aaa1c70c0f_7_43" title="Ảnh màn hình 2025-12-01 lúc 22.04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575" y="3168150"/>
            <a:ext cx="6178125" cy="6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a39b68121_0_49"/>
          <p:cNvSpPr/>
          <p:nvPr/>
        </p:nvSpPr>
        <p:spPr>
          <a:xfrm>
            <a:off x="3209400" y="2164680"/>
            <a:ext cx="360" cy="360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403" name="Google Shape;403;g39a39b68121_0_49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Fault Localization (Ochiai)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g39a39b68121_0_49"/>
          <p:cNvSpPr txBox="1"/>
          <p:nvPr/>
        </p:nvSpPr>
        <p:spPr>
          <a:xfrm>
            <a:off x="321300" y="132950"/>
            <a:ext cx="109572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 Phân tích động (Tracing &amp; Slicing)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5" name="Google Shape;405;g39a39b68121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775" y="1481848"/>
            <a:ext cx="4182250" cy="6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9a39b68121_0_49" title="Ảnh màn hình 2025-12-01 lúc 22.08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5200" y="3367250"/>
            <a:ext cx="5975251" cy="15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9a39b68121_0_49" title="Ảnh màn hình 2025-12-01 lúc 22.08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963" y="2164675"/>
            <a:ext cx="5791224" cy="391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aa1c70c0f_7_57"/>
          <p:cNvSpPr txBox="1"/>
          <p:nvPr/>
        </p:nvSpPr>
        <p:spPr>
          <a:xfrm>
            <a:off x="4558320" y="1248480"/>
            <a:ext cx="7391100" cy="5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aaa1c70c0f_7_57"/>
          <p:cNvSpPr txBox="1"/>
          <p:nvPr/>
        </p:nvSpPr>
        <p:spPr>
          <a:xfrm>
            <a:off x="4558320" y="404280"/>
            <a:ext cx="7391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aaa1c70c0f_7_57"/>
          <p:cNvSpPr txBox="1"/>
          <p:nvPr/>
        </p:nvSpPr>
        <p:spPr>
          <a:xfrm>
            <a:off x="4602650" y="2387479"/>
            <a:ext cx="7391100" cy="4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BÁO CÁO TIỂU LUẬN KHOA HỌC</a:t>
            </a:r>
            <a:endParaRPr sz="3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Đặt vấn đề và động lực paper: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Bối cảnh: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Bài toán xuôi (Invariant Generation): 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Code —&gt; 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Tìm Invariant (Khó, undecidable).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Bài toán ngược (Synthesis): Invariant mong muốn —&gt; Sinh ra Code (Loop).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Giới hạn hiện tại: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Các nghiên cứu trước (2023, 2024) chỉ tập trung vào </a:t>
            </a: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Affine Loops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(tuyến tính).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Khoảng trống: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Chưa xử lý được các vòng lặp </a:t>
            </a: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Phi tuyến (Đa thức bậc cao)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và điều kiện phức tạp.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Đóng góp chính của bài báo</a:t>
            </a:r>
            <a:endParaRPr b="1" sz="18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Khoảng trống: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Chưa xử lý được các vòng lặp </a:t>
            </a: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Phi tuyến (Đa thức bậc cao)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và điều kiện phức tạp.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Mở rộng phạm vi: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Hỗ trợ hàm cập nhật đa thức (Polynomial updates) và Guard condition bất đẳng thức 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Phương pháp luận: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Chuyển bài toán tổng hợp code thành bài toán giải hệ phương trình đa thức bằng Hình học đại số.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Công cụ: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Kết hợp Macaulay2 (tính toán Ideal/Gröbner basis) và Z3 Solver (tìm nghiệm).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4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Beyond Affine Loops: A Geometric Approach to Program Synthesis</a:t>
            </a:r>
            <a:endParaRPr b="1" sz="2000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1" name="Google Shape;4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5825" y="3577002"/>
            <a:ext cx="1071340" cy="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aa1c70c0f_7_69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Cơ sở lý thuyết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Vành đa thức C[x]: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Không gian trạng thái chương trình.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Ideal &amp; Hilbert Basis Theorem: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Biểu diễn tập trạng thái vô hạn bằng tập sinh hữu hạn (cơ sở cho tính toán máy tính).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Bao đóng Zariski: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"Làm trơn" quỹ đạo rời rạc của vòng lặp thành đối tượng hình học để áp dụng toán học.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Thuật toán tổng hợp</a:t>
            </a:r>
            <a:endParaRPr b="1" sz="18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Mô hình: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Vòng lặp L(a, h, F) với tham số chưa biết y.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Quy trình 2 bước: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AutoNum type="arabicPeriod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InvariantSet: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Tính toán bao đóng bất biến Q(x, y, z) dùng cơ sở Gröbner.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AutoNum type="arabicPeriod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GenerateLoops: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Thay giá trị khởi tạo x=a vào Q , ta có Hệ phương trình P(y) = 0.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Kết luận: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Nghiệm của P(y)=0 chính là các tham số của chương trình cần tìm.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g3aaa1c70c0f_7_69"/>
          <p:cNvSpPr txBox="1"/>
          <p:nvPr/>
        </p:nvSpPr>
        <p:spPr>
          <a:xfrm>
            <a:off x="338760" y="112680"/>
            <a:ext cx="115143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Beyond Affine Loops: A Geometric Approach to Program Synthesis</a:t>
            </a:r>
            <a:endParaRPr b="1" sz="2000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"/>
          <p:cNvSpPr txBox="1"/>
          <p:nvPr/>
        </p:nvSpPr>
        <p:spPr>
          <a:xfrm>
            <a:off x="338760" y="112680"/>
            <a:ext cx="115143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Beyond Affine Loops: A Geometric Approach to Program Synthesis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"/>
          <p:cNvSpPr txBox="1"/>
          <p:nvPr/>
        </p:nvSpPr>
        <p:spPr>
          <a:xfrm>
            <a:off x="338750" y="731200"/>
            <a:ext cx="3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Thực nghiệm &amp; Kiểm chứng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5"/>
          <p:cNvSpPr txBox="1"/>
          <p:nvPr/>
        </p:nvSpPr>
        <p:spPr>
          <a:xfrm>
            <a:off x="218875" y="1249250"/>
            <a:ext cx="111705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Bài toán tái lập: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Tổng hợp vòng lặp duy trì bất biến Parabola: 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Kết quả tổng hợp (Macaulay2 + Z3):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Trực quan hóa (Python):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5" name="Google Shape;43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879" y="1159663"/>
            <a:ext cx="1449625" cy="53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700" y="1861350"/>
            <a:ext cx="2030200" cy="3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096" y="2244100"/>
            <a:ext cx="1658242" cy="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aa1c70c0f_7_93"/>
          <p:cNvSpPr txBox="1"/>
          <p:nvPr/>
        </p:nvSpPr>
        <p:spPr>
          <a:xfrm>
            <a:off x="338760" y="1058760"/>
            <a:ext cx="11514300" cy="4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Đánh giá &amp; Hướng phát triển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Ưu điểm: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Giải quyết được bài toán phi tuyến mà các phương pháp tuyến tính bó tay.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Hạn chế:</a:t>
            </a: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Độ phức tạp tính toán cơ sở Gröbner rất lớn (Doubly Exponential) $\rightarrow$ Khó scale với số lượng biến lớn.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●"/>
            </a:pPr>
            <a:r>
              <a:rPr b="1"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Hướng phát triển:</a:t>
            </a:r>
            <a:endParaRPr b="1"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Kết hợp phương pháp số (Homotopy Continuation) để giảm tải cho Z3.</a:t>
            </a:r>
            <a:endParaRPr sz="1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Roboto"/>
              <a:buChar char="○"/>
            </a:pP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Ứng dụng vào Hybrid Systems (Hệ thống lai điều khiển).</a:t>
            </a:r>
            <a:endParaRPr sz="2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g3aaa1c70c0f_7_93"/>
          <p:cNvSpPr txBox="1"/>
          <p:nvPr/>
        </p:nvSpPr>
        <p:spPr>
          <a:xfrm>
            <a:off x="338760" y="112680"/>
            <a:ext cx="115143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Beyond Affine Loops: A Geometric Approach to Program Synthesis</a:t>
            </a:r>
            <a:endParaRPr b="1" sz="2000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sz="6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2020-12-31T09:57:48Z</dcterms:created>
  <dc:creator>Phong TT &amp; QTTH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